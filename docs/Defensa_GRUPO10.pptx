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Arial"/>
              </a:defRPr>
            </a:pPr>
            <a:r>
              <a:rPr lang="es-PE" sz="1200" b="0" i="0" u="none" strike="noStrike">
                <a:solidFill>
                  <a:srgbClr val="1B1B1F"/>
                </a:solidFill>
                <a:latin typeface="Arial"/>
              </a:rPr>
              <a:t>Loadings por componente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PC1</c:v>
                </c:pt>
              </c:strCache>
            </c:strRef>
          </c:tx>
          <c:spPr>
            <a:solidFill>
              <a:srgbClr val="2E5EA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Total_Sales</c:v>
                </c:pt>
                <c:pt idx="1">
                  <c:v>N_Transacciones</c:v>
                </c:pt>
                <c:pt idx="2">
                  <c:v>Ticket_Promedio</c:v>
                </c:pt>
                <c:pt idx="3">
                  <c:v>% Participación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0.51500000000000001</c:v>
                </c:pt>
                <c:pt idx="1">
                  <c:v>-7.1999999999999995E-2</c:v>
                </c:pt>
                <c:pt idx="2">
                  <c:v>0.61099999999999999</c:v>
                </c:pt>
                <c:pt idx="3">
                  <c:v>0.59699999999999998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3C-43F5-AC0C-F7FD0280AC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PC2</c:v>
                </c:pt>
              </c:strCache>
            </c:strRef>
          </c:tx>
          <c:spPr>
            <a:solidFill>
              <a:srgbClr val="E0507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Total_Sales</c:v>
                </c:pt>
                <c:pt idx="1">
                  <c:v>N_Transacciones</c:v>
                </c:pt>
                <c:pt idx="2">
                  <c:v>Ticket_Promedio</c:v>
                </c:pt>
                <c:pt idx="3">
                  <c:v>% Participación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0.48599999999999999</c:v>
                </c:pt>
                <c:pt idx="1">
                  <c:v>0.80600000000000005</c:v>
                </c:pt>
                <c:pt idx="2">
                  <c:v>-0.33800000000000002</c:v>
                </c:pt>
                <c:pt idx="3">
                  <c:v>2.3E-2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3C-43F5-AC0C-F7FD0280A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s-PE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0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2E5EA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548640"/>
            <a:ext cx="1828800" cy="1828800"/>
          </a:xfrm>
          <a:prstGeom prst="ellipse">
            <a:avLst/>
          </a:prstGeom>
          <a:solidFill>
            <a:srgbClr val="E0507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F2994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 PROYECTO FINAL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Analysis 2015–2018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estacionales y diferencias regionales en el desempeño de categorías,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su aplicación para la toma de decisiones comerciales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Miranda Cardenas, Sofia Gabriel   ·   Olivera Alvarez, Lizbeth Teresita   ·   Gomez Rubina, Luis David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1023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de Ciencias Aplicadas  ·  Data Visualization  ·  Docente: Carlos Adrian Alarcon Delgado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comerciales sin respaldo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históricos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previsión de la demanda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35915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análisis de tendencias, el inventario reacciona tarde a los picos de venta.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Ineficiencia en la gestión de inventario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59359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inmovilizado en líneas de producto de bajo desempeño.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4348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identificar qué funciona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2803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claro qué región o categoría impulsa realmente el negocio.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01000" y="196596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VISUALIZACIÓN,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1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PATRÓN VISIBLE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32004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herramientas de visualización adecuadas limita la identificación de patrones y tendencias relevantes en el comportamiento de ventas.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E5EA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ANALÍTICA PRINCIPAL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patrones estacionales y diferencias regionales en el desempeño de las categorías influyen en las ventas, y cómo pueden utilizarse para apoyar la toma de decisiones del negocio?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decisión de diseño — del EDA al PCA — se subordina a responder esta pregunta de forma autosuficiente en el dashboard final.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crudo al dashboard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19202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292" y="2084832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1193292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 filas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(Sahoo, 2020)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30175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04872" y="2377440"/>
            <a:ext cx="1691640" cy="19202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49524" y="2084832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3049524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31546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Tipado, nulos,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96512" y="30175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61104" y="2377440"/>
            <a:ext cx="1691640" cy="19202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5756" y="2084832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905756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52544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52544" y="31546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Nivel_Ventas,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Region_Category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52744" y="30175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17336" y="2377440"/>
            <a:ext cx="1691640" cy="19202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1988" y="2084832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6761988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08776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08776" y="31546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Región-Categ-Trim.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08976" y="30175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73568" y="2377440"/>
            <a:ext cx="1691640" cy="19202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8220" y="2084832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0" name="Text 28"/>
          <p:cNvSpPr/>
          <p:nvPr/>
        </p:nvSpPr>
        <p:spPr>
          <a:xfrm>
            <a:off x="8618220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65008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65008" y="31546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componentes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 varianza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65208" y="30175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829800" y="2377440"/>
            <a:ext cx="1691640" cy="19202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74452" y="2084832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6" name="Text 34"/>
          <p:cNvSpPr/>
          <p:nvPr/>
        </p:nvSpPr>
        <p:spPr>
          <a:xfrm>
            <a:off x="10474452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921240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21240" y="31546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LOD nativos en Tableau se combinan con pre-procesamiento en Python: trazabilidad del pipeline + flexibilidad ante filtros interactivos.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negocio en cuatro números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2514600" cy="109728"/>
          </a:xfrm>
          <a:prstGeom prst="rect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$2.26M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2018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103120"/>
            <a:ext cx="2514600" cy="109728"/>
          </a:xfrm>
          <a:prstGeom prst="rect">
            <a:avLst/>
          </a:prstGeom>
          <a:solidFill>
            <a:srgbClr val="E0507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totales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únicas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2103120"/>
            <a:ext cx="2514600" cy="1097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31.4%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72200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líder: West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$710K en ventas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4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2103120"/>
            <a:ext cx="25146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$827K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915400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líder: Technology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15400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ingreso, no mayor volumen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EXPLORATORIOS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hallazgos accionables del EDA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en Q4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concentradas nov–dic todos los años. Preparar inventario 6 semanas antes.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96512" y="20116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/>
          <p:nvPr/>
        </p:nvSpPr>
        <p:spPr>
          <a:xfrm>
            <a:off x="4233672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33672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West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33672" y="28529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 de las ventas en una sola región: riesgo de concentración.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44384" y="20116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81544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81544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vende caro, no mucho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81544" y="28529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transacciones que Office Supplies, pero mayor ingreso total.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94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y Bookcases, débiles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54456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desempeño estructural, no estacional ni regional.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96512" y="370332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4233672" y="3794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33672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no explica el monto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33672" y="454456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consistentes (3–5 días); la venta depende de región, categoría y temporada.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FINAL · PÁGINA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ejecutivos y tendencia mensual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9050">
            <a:solidFill>
              <a:srgbClr val="DCE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das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01368"/>
            <a:ext cx="7644384" cy="44897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965960"/>
            <a:ext cx="109728" cy="109728"/>
          </a:xfrm>
          <a:prstGeom prst="ellipse">
            <a:avLst/>
          </a:prstGeom>
          <a:solidFill>
            <a:srgbClr val="E0507A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con variación YoY (+20,3% / +28,26%)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732520" y="2743200"/>
            <a:ext cx="109728" cy="109728"/>
          </a:xfrm>
          <a:prstGeom prst="ellipse">
            <a:avLst/>
          </a:prstGeom>
          <a:solidFill>
            <a:srgbClr val="E0507A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insights: storytelling narrativo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32520" y="3520440"/>
            <a:ext cx="109728" cy="109728"/>
          </a:xfrm>
          <a:prstGeom prst="ellipse">
            <a:avLst/>
          </a:prstGeom>
          <a:solidFill>
            <a:srgbClr val="E0507A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0" y="3337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Región y Categoría independientes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FINAL · PÁGINA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PCA: volumen vs. valor de venta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9050">
            <a:solidFill>
              <a:srgbClr val="DCE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das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01368"/>
            <a:ext cx="7644384" cy="44897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965960"/>
            <a:ext cx="109728" cy="10972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por botones entre páginas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732520" y="2743200"/>
            <a:ext cx="109728" cy="10972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Año es global; Región/Categoría solo local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32520" y="3520440"/>
            <a:ext cx="109728" cy="10972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0" y="3337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PC1–PC2 confirma estacionalidad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COMPONENTES PRINCIPALES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sobre Región × Categoría × Trimestre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PCA y no t-SNE: los loadings son interpretables para un usuario de negocio — explican qué variable pesa en cada eje, no solo agrupan.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514600"/>
          <a:ext cx="54864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6002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6213E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719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EXPLICADA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0" y="2057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PC1 48.3%   </a:t>
            </a:r>
            <a:r>
              <a:rPr lang="en-US" sz="1600" dirty="0">
                <a:solidFill>
                  <a:srgbClr val="8C9BC0"/>
                </a:solidFill>
              </a:rPr>
              <a:t>+   </a:t>
            </a:r>
            <a:r>
              <a:rPr lang="en-US" sz="2000" b="1" dirty="0">
                <a:solidFill>
                  <a:srgbClr val="FFFFFF"/>
                </a:solidFill>
              </a:rPr>
              <a:t>PC2 36.3%   </a:t>
            </a:r>
            <a:r>
              <a:rPr lang="en-US" sz="1300" dirty="0">
                <a:solidFill>
                  <a:srgbClr val="C7D2E8"/>
                </a:solidFill>
              </a:rPr>
              <a:t>=   84.6% acumulado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55080" y="3017520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— Eje de valor: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 y participación.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— Eje de volumen: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transacciones.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206240"/>
          <a:ext cx="5257800" cy="1874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de análisis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combinaciones Región×Categ×Trim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de componentes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(media 0, sd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region_category_quarter_pca.csv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técnico: encontrar y corregir antes de defender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DE QA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Region de la página PCA (alcance "All Using This Data Source") propagaba su estado a los KPIs de la página principal.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BEA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73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$1.38M / 5,925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935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mostrado (incorrecto)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32004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4F2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2735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$2.26M / 9,800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593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(corregido)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alcance del filtro → "Only this Worksheet". El dashboard responde la pregunta principal sin depender de una configuración específica de filtros.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Y LÍMITES CLAVE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359152"/>
            <a:ext cx="82296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2860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un solo país/negocio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2578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generalizable a otros retailers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82296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1272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1,145 outliers en Sales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34198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eliminados: son ventas reales excepcionales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4041648"/>
            <a:ext cx="82296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9684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componentes PCA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42611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 varianza; prioriza interpretabilidad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882896"/>
            <a:ext cx="82296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80974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externas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102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o competencia no están en el dataset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datos a la decisión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F2E5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validados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agregadas, sin pérdida ni duplicación: $2,261,536.78 cuadran contra el total original.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9659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F2E5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con propósito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25603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métrica derivada responde a una hipótesis o insight del EDA, no fue elegida al azar.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F2E5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aproximación técnica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para trazabilidad + LOD nativo en Tableau para flexibilidad ante filtros.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9319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F2E5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clara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5262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Region_Category y Quarter separan el efecto geográfico del estacional sin confundirlos.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3291840" cy="3291840"/>
          </a:xfrm>
          <a:prstGeom prst="ellipse">
            <a:avLst/>
          </a:prstGeom>
          <a:solidFill>
            <a:srgbClr val="E050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91440" cy="9144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096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</a:rPr>
              <a:t>Dashboard final  </a:t>
            </a:r>
            <a:r>
              <a:rPr lang="en-US" sz="1200" dirty="0">
                <a:solidFill>
                  <a:srgbClr val="5B6472"/>
                </a:solidFill>
              </a:rPr>
              <a:t>public.tableau.com/.../DashboardFinal_17837372829700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91440" cy="9144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537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</a:rPr>
              <a:t>Repositorio GitHub  </a:t>
            </a:r>
            <a:r>
              <a:rPr lang="en-US" sz="1200" dirty="0">
                <a:solidFill>
                  <a:srgbClr val="5B6472"/>
                </a:solidFill>
              </a:rPr>
              <a:t>github.com/SofiaGMiranda/proyect_dv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872</Words>
  <Application>Microsoft Office PowerPoint</Application>
  <PresentationFormat>Panorámica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Sofia Gabriel Miranda Cardenas Miranda</cp:lastModifiedBy>
  <cp:revision>2</cp:revision>
  <dcterms:created xsi:type="dcterms:W3CDTF">2026-07-11T03:30:21Z</dcterms:created>
  <dcterms:modified xsi:type="dcterms:W3CDTF">2026-07-11T03:36:31Z</dcterms:modified>
</cp:coreProperties>
</file>